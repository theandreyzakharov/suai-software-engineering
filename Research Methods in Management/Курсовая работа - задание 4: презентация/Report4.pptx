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6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8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slideLayout" Target="../slideLayouts/slideLayout10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18949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Открытая модульная ADAS для автопрома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8476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 внедрения и подготовка кадров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6868" y="981432"/>
            <a:ext cx="7830264" cy="1231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Технологический разрыв в массовом сегменте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56868" y="2682121"/>
            <a:ext cx="3686175" cy="73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Вызов отечественного автопрома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56868" y="3608665"/>
            <a:ext cx="3686175" cy="210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Российские модели массового сегмента (LADA Vesta, Granta, Niva) по уровню интеллектуальных систем помощи водителю значительно уступают китайским и европейским аналогам при сопоставимых ценах 1,6–2,5 млн ₽.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56868" y="5878592"/>
            <a:ext cx="3686175" cy="120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Большинство отечественных моделей ограничиваются базовыми функциями: круиз-контроль, парктроник, камера заднего вида.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08577" y="2682121"/>
            <a:ext cx="3686175" cy="73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Преимущество конкурентов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4808577" y="3608665"/>
            <a:ext cx="3686175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Иномарки стабильно предлагают расширенный набор ADAS «с порога»: удержание в полосе, предотвращение столкновений, контроль слепых зон, камера 360°.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808577" y="5278279"/>
            <a:ext cx="3686175" cy="120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формирует новый стандарт потребительских ожиданий и управленческий вызов для российских OEM.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1540"/>
            <a:ext cx="876907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Сравнение оснащения ADAS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089428"/>
            <a:ext cx="6407944" cy="1838920"/>
          </a:xfrm>
          <a:prstGeom prst="roundRect">
            <a:avLst>
              <a:gd name="adj" fmla="val 518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3238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Lada Vesta SW Cross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28224" y="283202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B, 1,7 млн ₽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3331012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Круиз-контроль, задний парктроник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089428"/>
            <a:ext cx="6408063" cy="1838920"/>
          </a:xfrm>
          <a:prstGeom prst="roundRect">
            <a:avLst>
              <a:gd name="adj" fmla="val 518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23238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Changan UNI-V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662982" y="2832021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C, 1,8 млн ₽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62982" y="333101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BSM, AEB, LKA, DMS, круиз, 360°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155162"/>
            <a:ext cx="6407944" cy="2201823"/>
          </a:xfrm>
          <a:prstGeom prst="roundRect">
            <a:avLst>
              <a:gd name="adj" fmla="val 432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224" y="438959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Москвич 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28224" y="4897755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B, 2,0 млн ₽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28224" y="5396746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Предупр. о столкновении, круиз, камера, парктроник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155162"/>
            <a:ext cx="6408063" cy="2201823"/>
          </a:xfrm>
          <a:prstGeom prst="roundRect">
            <a:avLst>
              <a:gd name="adj" fmla="val 432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438959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VW Golf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662982" y="4897755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C, 2,5 млн ₽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662982" y="5396746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LKA, AEB, DMS, парктроники, круиз, 360°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61213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Иностранные модели в массовом сегменте формируют новый стандарт ожиданий. Модульный открытый подход к ADAS позволяет российским производителям ускорить восполнение технологического разрыва.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3507" y="563761"/>
            <a:ext cx="7809786" cy="125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Проблема закрытых решений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153507" y="2100501"/>
            <a:ext cx="3809524" cy="2378512"/>
          </a:xfrm>
          <a:prstGeom prst="roundRect">
            <a:avLst>
              <a:gd name="adj" fmla="val 461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30647" y="2100501"/>
            <a:ext cx="91440" cy="2378512"/>
          </a:xfrm>
          <a:prstGeom prst="roundRect">
            <a:avLst>
              <a:gd name="adj" fmla="val 87555"/>
            </a:avLst>
          </a:prstGeom>
          <a:solidFill>
            <a:srgbClr val="007EBD"/>
          </a:solidFill>
          <a:ln/>
        </p:spPr>
      </p:sp>
      <p:sp>
        <p:nvSpPr>
          <p:cNvPr id="6" name="Text 3"/>
          <p:cNvSpPr/>
          <p:nvPr/>
        </p:nvSpPr>
        <p:spPr>
          <a:xfrm>
            <a:off x="6435566" y="2313980"/>
            <a:ext cx="2762845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Закрытые стеки OEM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435566" y="2740938"/>
            <a:ext cx="3313986" cy="1219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Промышленные ADAS-решения недоступны для сторонней интеграции, что создаёт зависимость от поставщиков.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153650" y="2100501"/>
            <a:ext cx="3809643" cy="2378512"/>
          </a:xfrm>
          <a:prstGeom prst="roundRect">
            <a:avLst>
              <a:gd name="adj" fmla="val 461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30790" y="2100501"/>
            <a:ext cx="91440" cy="2378512"/>
          </a:xfrm>
          <a:prstGeom prst="roundRect">
            <a:avLst>
              <a:gd name="adj" fmla="val 87555"/>
            </a:avLst>
          </a:prstGeom>
          <a:solidFill>
            <a:srgbClr val="007EBD"/>
          </a:solidFill>
          <a:ln/>
        </p:spPr>
      </p:sp>
      <p:sp>
        <p:nvSpPr>
          <p:cNvPr id="10" name="Text 7"/>
          <p:cNvSpPr/>
          <p:nvPr/>
        </p:nvSpPr>
        <p:spPr>
          <a:xfrm>
            <a:off x="10435709" y="2313980"/>
            <a:ext cx="3209806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Лицензионные барьеры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435709" y="2740938"/>
            <a:ext cx="3314105" cy="152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Высокие издержки на лицензирование и санкционные ограничения препятствуют доступу к передовым технологиям.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53507" y="4669631"/>
            <a:ext cx="3809524" cy="2996089"/>
          </a:xfrm>
          <a:prstGeom prst="roundRect">
            <a:avLst>
              <a:gd name="adj" fmla="val 366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30647" y="4669631"/>
            <a:ext cx="91440" cy="2996089"/>
          </a:xfrm>
          <a:prstGeom prst="roundRect">
            <a:avLst>
              <a:gd name="adj" fmla="val 87555"/>
            </a:avLst>
          </a:prstGeom>
          <a:solidFill>
            <a:srgbClr val="007EBD"/>
          </a:solidFill>
          <a:ln/>
        </p:spPr>
      </p:sp>
      <p:sp>
        <p:nvSpPr>
          <p:cNvPr id="14" name="Text 11"/>
          <p:cNvSpPr/>
          <p:nvPr/>
        </p:nvSpPr>
        <p:spPr>
          <a:xfrm>
            <a:off x="6435566" y="4883110"/>
            <a:ext cx="3313986" cy="62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Отсутствие масштабируемости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435566" y="5622727"/>
            <a:ext cx="3313986" cy="1829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отечественной практике отсутствуют открытые модульные решения, которые можно адаптировать под разные модели без глубокой переделки платформы.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1386" y="480893"/>
            <a:ext cx="6569750" cy="573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Архитектура системы RAAS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11386" y="1123712"/>
            <a:ext cx="9449395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Модульная открытая платформа интеллектуальных ассистентов</a:t>
            </a:r>
            <a:endParaRPr lang="en-US" sz="2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86" y="1729502"/>
            <a:ext cx="436602" cy="4366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6230" y="1833205"/>
            <a:ext cx="2292668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RAASPanel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66230" y="2224564"/>
            <a:ext cx="5939790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Центральный графический интерфейс на PyQt5 для управления всеми модулями и визуализации состояний системы.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4261" y="1729502"/>
            <a:ext cx="436602" cy="4366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79105" y="1833205"/>
            <a:ext cx="2529245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Adaptive Cruise Control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079105" y="2224564"/>
            <a:ext cx="5939909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Поддержание целевой скорости 30–150 км/ч с автоматическим отключением при ручном торможении.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386" y="3132772"/>
            <a:ext cx="436602" cy="4366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66230" y="3236476"/>
            <a:ext cx="2292668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Lane Keeping Assist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266230" y="3627834"/>
            <a:ext cx="5939790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PID-контроллер с компьютерным зрением для удержания в полосе по разметке (RGB 640×480, FOV 90°).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4261" y="3132772"/>
            <a:ext cx="436602" cy="4366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79105" y="3236476"/>
            <a:ext cx="2292668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 Braking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079105" y="3627834"/>
            <a:ext cx="5939909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Автоматическое экстренное торможение на основе LiDAR при угрозе столкновения до 60 км/ч.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1386" y="4536043"/>
            <a:ext cx="436602" cy="4366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66230" y="4639747"/>
            <a:ext cx="2478405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Camera 360 + Recorder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1266230" y="5031105"/>
            <a:ext cx="5939790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Композит из 4 камер, пред- и пост-инцидентная запись с наложением телеметрии.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4261" y="4536043"/>
            <a:ext cx="436602" cy="43660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79105" y="4639747"/>
            <a:ext cx="2390775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Blind-Spot Monitoring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8079105" y="5031105"/>
            <a:ext cx="5939909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Радарные датчики ±150° для обнаружения объектов в слепых зонах на расстоянии до 10 м.</a:t>
            </a:r>
            <a:endParaRPr lang="en-US" sz="13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1386" y="5939314"/>
            <a:ext cx="436602" cy="43660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66230" y="6043017"/>
            <a:ext cx="2419945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Driver Fatigue Monitor</a:t>
            </a:r>
            <a:endParaRPr lang="en-US" sz="1800" dirty="0"/>
          </a:p>
        </p:txBody>
      </p:sp>
      <p:sp>
        <p:nvSpPr>
          <p:cNvPr id="24" name="Text 15"/>
          <p:cNvSpPr/>
          <p:nvPr/>
        </p:nvSpPr>
        <p:spPr>
          <a:xfrm>
            <a:off x="1266230" y="6434376"/>
            <a:ext cx="5939790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Мониторинг активности водителя, длительности поездки и аномалий в управлении.</a:t>
            </a:r>
            <a:endParaRPr lang="en-US" sz="13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24261" y="5939314"/>
            <a:ext cx="436602" cy="43660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079105" y="6043017"/>
            <a:ext cx="2556986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Emergency Call Monitor</a:t>
            </a:r>
            <a:endParaRPr lang="en-US" sz="1800" dirty="0"/>
          </a:p>
        </p:txBody>
      </p:sp>
      <p:sp>
        <p:nvSpPr>
          <p:cNvPr id="27" name="Text 17"/>
          <p:cNvSpPr/>
          <p:nvPr/>
        </p:nvSpPr>
        <p:spPr>
          <a:xfrm>
            <a:off x="8079105" y="6434376"/>
            <a:ext cx="5939909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Детекция ДТП по падению скорости и изменению курса с автоматическим вызовом экстренных служб.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611386" y="7189708"/>
            <a:ext cx="13407628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Ключевая особенность: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модульность позволяет подключать и заменять функции без переписывания базового каркаса, что критично для диверсифицированной линейки моделей.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38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45" y="2730818"/>
            <a:ext cx="6918484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Методология верификации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6745" y="3766066"/>
            <a:ext cx="3844766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Инструменты разработки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6745" y="4297680"/>
            <a:ext cx="577941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Платформа: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Python, Windows 10 Pro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6745" y="4646771"/>
            <a:ext cx="577941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PyQt5, pygame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6745" y="4995863"/>
            <a:ext cx="577941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Компьютерное зрение: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OpenCV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6745" y="5344954"/>
            <a:ext cx="577941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Симулятор: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CARLA 0.9.14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6745" y="5694045"/>
            <a:ext cx="577941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Логирование: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SQLite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6745" y="6159579"/>
            <a:ext cx="3266837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Сенсоры в симуляции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26745" y="6691193"/>
            <a:ext cx="577941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RGB-камеры (640×480, 90° FOV)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6745" y="7040285"/>
            <a:ext cx="577941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LiDAR (50 м, 20 Гц)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6745" y="7389376"/>
            <a:ext cx="577941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Радары (±150°)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0499" y="3766066"/>
            <a:ext cx="2820353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Тест-сценарии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850499" y="4297680"/>
            <a:ext cx="716077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Движение по трассе с активными LKA и ACC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0499" y="4646771"/>
            <a:ext cx="716077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Препятствия с вариацией скорости для проверки AEB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0499" y="4995863"/>
            <a:ext cx="716077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Имитация ДТП (падение скорости &gt;30 км/ч, изменение курса &gt;60°)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0499" y="5344954"/>
            <a:ext cx="716077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Длительные поездки &gt;100 мин для мониторинга усталости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0499" y="5694045"/>
            <a:ext cx="716077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Объекты в слепых зонах ≤10 м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0499" y="6043136"/>
            <a:ext cx="716077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Реверс с автопереключением на камеру заднего вида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475" y="439579"/>
            <a:ext cx="10411658" cy="52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Результаты экспериментальной верификации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59475" y="1523643"/>
            <a:ext cx="6675834" cy="1451729"/>
          </a:xfrm>
          <a:prstGeom prst="roundRect">
            <a:avLst>
              <a:gd name="adj" fmla="val 755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475" y="1500783"/>
            <a:ext cx="6675834" cy="91440"/>
          </a:xfrm>
          <a:prstGeom prst="roundRect">
            <a:avLst>
              <a:gd name="adj" fmla="val 73430"/>
            </a:avLst>
          </a:prstGeom>
          <a:solidFill>
            <a:srgbClr val="007EB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283851"/>
            <a:ext cx="479584" cy="479584"/>
          </a:xfrm>
          <a:prstGeom prst="roundRect">
            <a:avLst>
              <a:gd name="adj" fmla="val 190665"/>
            </a:avLst>
          </a:prstGeom>
          <a:solidFill>
            <a:srgbClr val="007E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1428" y="1427678"/>
            <a:ext cx="191810" cy="19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2117" y="1923217"/>
            <a:ext cx="3073837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ACC: стабильность скорости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42117" y="2281238"/>
            <a:ext cx="6310551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Отклонение от целевой скорости ±0,5 м/с, мгновенное отключение при ручном торможении — выполнено стабильно.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95091" y="1523643"/>
            <a:ext cx="6675834" cy="1451729"/>
          </a:xfrm>
          <a:prstGeom prst="roundRect">
            <a:avLst>
              <a:gd name="adj" fmla="val 755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395091" y="1500783"/>
            <a:ext cx="6675834" cy="91440"/>
          </a:xfrm>
          <a:prstGeom prst="roundRect">
            <a:avLst>
              <a:gd name="adj" fmla="val 73430"/>
            </a:avLst>
          </a:prstGeom>
          <a:solidFill>
            <a:srgbClr val="007EBD"/>
          </a:solidFill>
          <a:ln/>
        </p:spPr>
      </p:sp>
      <p:sp>
        <p:nvSpPr>
          <p:cNvPr id="11" name="Shape 8"/>
          <p:cNvSpPr/>
          <p:nvPr/>
        </p:nvSpPr>
        <p:spPr>
          <a:xfrm>
            <a:off x="10493216" y="1283851"/>
            <a:ext cx="479584" cy="479584"/>
          </a:xfrm>
          <a:prstGeom prst="roundRect">
            <a:avLst>
              <a:gd name="adj" fmla="val 190665"/>
            </a:avLst>
          </a:prstGeom>
          <a:solidFill>
            <a:srgbClr val="007E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7044" y="1427678"/>
            <a:ext cx="191810" cy="19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77733" y="1923217"/>
            <a:ext cx="3193733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AEB: экстренное торможение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577733" y="2281238"/>
            <a:ext cx="6310551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Срабатывание при критической дистанции до препятствия (≤60 км/ч), корректное отпускание тормоза после остановки.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59475" y="3374946"/>
            <a:ext cx="6675834" cy="1451729"/>
          </a:xfrm>
          <a:prstGeom prst="roundRect">
            <a:avLst>
              <a:gd name="adj" fmla="val 755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559475" y="3352086"/>
            <a:ext cx="6675834" cy="91440"/>
          </a:xfrm>
          <a:prstGeom prst="roundRect">
            <a:avLst>
              <a:gd name="adj" fmla="val 73430"/>
            </a:avLst>
          </a:prstGeom>
          <a:solidFill>
            <a:srgbClr val="007EBD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7600" y="3135154"/>
            <a:ext cx="479584" cy="479584"/>
          </a:xfrm>
          <a:prstGeom prst="roundRect">
            <a:avLst>
              <a:gd name="adj" fmla="val 190665"/>
            </a:avLst>
          </a:prstGeom>
          <a:solidFill>
            <a:srgbClr val="007EB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1428" y="3278981"/>
            <a:ext cx="191810" cy="19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2117" y="3774519"/>
            <a:ext cx="2711648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LKA: удержание в полосе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742117" y="4132540"/>
            <a:ext cx="6310551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Стабилизация траектории на прямолинейных участках, деактивация при включении поворотников (приоритет водителя).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395091" y="3374946"/>
            <a:ext cx="6675834" cy="1451729"/>
          </a:xfrm>
          <a:prstGeom prst="roundRect">
            <a:avLst>
              <a:gd name="adj" fmla="val 755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7395091" y="3352086"/>
            <a:ext cx="6675834" cy="91440"/>
          </a:xfrm>
          <a:prstGeom prst="roundRect">
            <a:avLst>
              <a:gd name="adj" fmla="val 73430"/>
            </a:avLst>
          </a:prstGeom>
          <a:solidFill>
            <a:srgbClr val="007EBD"/>
          </a:solidFill>
          <a:ln/>
        </p:spPr>
      </p:sp>
      <p:sp>
        <p:nvSpPr>
          <p:cNvPr id="23" name="Shape 18"/>
          <p:cNvSpPr/>
          <p:nvPr/>
        </p:nvSpPr>
        <p:spPr>
          <a:xfrm>
            <a:off x="10493216" y="3135154"/>
            <a:ext cx="479584" cy="479584"/>
          </a:xfrm>
          <a:prstGeom prst="roundRect">
            <a:avLst>
              <a:gd name="adj" fmla="val 190665"/>
            </a:avLst>
          </a:prstGeom>
          <a:solidFill>
            <a:srgbClr val="007EB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37044" y="3278981"/>
            <a:ext cx="191810" cy="19181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77733" y="3774519"/>
            <a:ext cx="2098238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BSM: слепые зоны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7577733" y="4132540"/>
            <a:ext cx="6310551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Индикация объектов ≤10 м слева/справа с фиксацией событий в базе данных.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59475" y="5226248"/>
            <a:ext cx="6675834" cy="1451729"/>
          </a:xfrm>
          <a:prstGeom prst="roundRect">
            <a:avLst>
              <a:gd name="adj" fmla="val 755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559475" y="5203388"/>
            <a:ext cx="6675834" cy="91440"/>
          </a:xfrm>
          <a:prstGeom prst="roundRect">
            <a:avLst>
              <a:gd name="adj" fmla="val 73430"/>
            </a:avLst>
          </a:prstGeom>
          <a:solidFill>
            <a:srgbClr val="007EBD"/>
          </a:solidFill>
          <a:ln/>
        </p:spPr>
      </p:sp>
      <p:sp>
        <p:nvSpPr>
          <p:cNvPr id="29" name="Shape 23"/>
          <p:cNvSpPr/>
          <p:nvPr/>
        </p:nvSpPr>
        <p:spPr>
          <a:xfrm>
            <a:off x="3657600" y="4986457"/>
            <a:ext cx="479584" cy="479584"/>
          </a:xfrm>
          <a:prstGeom prst="roundRect">
            <a:avLst>
              <a:gd name="adj" fmla="val 190665"/>
            </a:avLst>
          </a:prstGeom>
          <a:solidFill>
            <a:srgbClr val="007EB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01428" y="5130284"/>
            <a:ext cx="191810" cy="19181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2117" y="5625822"/>
            <a:ext cx="3123367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Emergency Call: детекция ДТП</a:t>
            </a:r>
            <a:endParaRPr lang="en-US" sz="1650" dirty="0"/>
          </a:p>
        </p:txBody>
      </p:sp>
      <p:sp>
        <p:nvSpPr>
          <p:cNvPr id="32" name="Text 25"/>
          <p:cNvSpPr/>
          <p:nvPr/>
        </p:nvSpPr>
        <p:spPr>
          <a:xfrm>
            <a:off x="742117" y="5983843"/>
            <a:ext cx="6310551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Корректный триггер при падении скорости &gt;30 км/ч и изменении курса &gt;60°, окно подтверждения 60 с, логирование.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7395091" y="5226248"/>
            <a:ext cx="6675834" cy="1451729"/>
          </a:xfrm>
          <a:prstGeom prst="roundRect">
            <a:avLst>
              <a:gd name="adj" fmla="val 755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4" name="Shape 27"/>
          <p:cNvSpPr/>
          <p:nvPr/>
        </p:nvSpPr>
        <p:spPr>
          <a:xfrm>
            <a:off x="7395091" y="5203388"/>
            <a:ext cx="6675834" cy="91440"/>
          </a:xfrm>
          <a:prstGeom prst="roundRect">
            <a:avLst>
              <a:gd name="adj" fmla="val 73430"/>
            </a:avLst>
          </a:prstGeom>
          <a:solidFill>
            <a:srgbClr val="007EBD"/>
          </a:solidFill>
          <a:ln/>
        </p:spPr>
      </p:sp>
      <p:sp>
        <p:nvSpPr>
          <p:cNvPr id="35" name="Shape 28"/>
          <p:cNvSpPr/>
          <p:nvPr/>
        </p:nvSpPr>
        <p:spPr>
          <a:xfrm>
            <a:off x="10493216" y="4986457"/>
            <a:ext cx="479584" cy="479584"/>
          </a:xfrm>
          <a:prstGeom prst="roundRect">
            <a:avLst>
              <a:gd name="adj" fmla="val 190665"/>
            </a:avLst>
          </a:prstGeom>
          <a:solidFill>
            <a:srgbClr val="007EBD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37044" y="5130284"/>
            <a:ext cx="191810" cy="19181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577733" y="5625822"/>
            <a:ext cx="2098238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360° + Recorder</a:t>
            </a:r>
            <a:endParaRPr lang="en-US" sz="1650" dirty="0"/>
          </a:p>
        </p:txBody>
      </p:sp>
      <p:sp>
        <p:nvSpPr>
          <p:cNvPr id="38" name="Text 30"/>
          <p:cNvSpPr/>
          <p:nvPr/>
        </p:nvSpPr>
        <p:spPr>
          <a:xfrm>
            <a:off x="7577733" y="5983843"/>
            <a:ext cx="6310551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Формирование композита «вид сверху», буфер пред/пост-инцидентной записи с телеметрией (скорость, время).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559475" y="6857762"/>
            <a:ext cx="13511451" cy="934879"/>
          </a:xfrm>
          <a:prstGeom prst="roundRect">
            <a:avLst>
              <a:gd name="adj" fmla="val 7182"/>
            </a:avLst>
          </a:prstGeom>
          <a:solidFill>
            <a:srgbClr val="B3E5FF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257" y="7100411"/>
            <a:ext cx="199787" cy="15978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78825" y="7057430"/>
            <a:ext cx="12832318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 уровне прототипа техническая реализуемость открытой модульной ADAS продемонстрирована. Для промышленного применения необходим переход на бортовые платформы, CAN-интеграция и сертификация.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203" y="530423"/>
            <a:ext cx="6041588" cy="632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Экономика внедрения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675203" y="1645563"/>
            <a:ext cx="6414373" cy="379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Минимальный комплект оборудования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75203" y="2242304"/>
            <a:ext cx="7779782" cy="4766310"/>
          </a:xfrm>
          <a:prstGeom prst="roundRect">
            <a:avLst>
              <a:gd name="adj" fmla="val 17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2823" y="2249924"/>
            <a:ext cx="7764542" cy="5553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75705" y="2373273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Компонент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61786" y="2373273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2823" y="2805232"/>
            <a:ext cx="7764542" cy="8639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75705" y="2928580"/>
            <a:ext cx="349269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4× RGB-камеры (640×480, 90°, 30 fps)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61786" y="2928580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~20 000 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2823" y="3669149"/>
            <a:ext cx="7764542" cy="5553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75705" y="3792498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Фронтальная камера LKA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1786" y="3792498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~8 000 ₽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2823" y="4224457"/>
            <a:ext cx="7764542" cy="5553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75705" y="4347805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8× ультразвуковых парктроников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61786" y="4347805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~6 000 ₽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2823" y="4779764"/>
            <a:ext cx="7764542" cy="5553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75705" y="4903113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Лидар (50 м, 20 Гц)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61786" y="4903113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~60 000 ₽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2823" y="5335072"/>
            <a:ext cx="7764542" cy="5553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75705" y="5458420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Радар слепых зон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61786" y="5458420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~8 000 ₽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2823" y="5890379"/>
            <a:ext cx="7764542" cy="5553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75705" y="6013728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 оборудование: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61786" y="6013728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~102 000 ₽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2823" y="6445687"/>
            <a:ext cx="7764542" cy="5553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75705" y="6569035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на сборке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1786" y="6569035"/>
            <a:ext cx="349269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~300 000 ₽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5203" y="7225546"/>
            <a:ext cx="777978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учёта бортового вычислителя, монтажа и НИОКР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933140" y="1766054"/>
            <a:ext cx="5029676" cy="636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102К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10096857" y="2643783"/>
            <a:ext cx="2702123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Стоимость сенсоров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8933140" y="3153132"/>
            <a:ext cx="502967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Минимальный набор оборудования в рублях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33140" y="3943945"/>
            <a:ext cx="5029676" cy="636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300К</a:t>
            </a:r>
            <a:endParaRPr lang="en-US" sz="5000" dirty="0"/>
          </a:p>
        </p:txBody>
      </p:sp>
      <p:sp>
        <p:nvSpPr>
          <p:cNvPr id="34" name="Text 32"/>
          <p:cNvSpPr/>
          <p:nvPr/>
        </p:nvSpPr>
        <p:spPr>
          <a:xfrm>
            <a:off x="10181987" y="4821674"/>
            <a:ext cx="2531983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Интеграция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8933140" y="5331023"/>
            <a:ext cx="502967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Ориентировочные затраты на внедрение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800" y="506968"/>
            <a:ext cx="8319611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Управленческие и кадровые импликации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7800" y="1258133"/>
            <a:ext cx="6746319" cy="1642229"/>
          </a:xfrm>
          <a:prstGeom prst="roundRect">
            <a:avLst>
              <a:gd name="adj" fmla="val 363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7581" y="1407914"/>
            <a:ext cx="426601" cy="426601"/>
          </a:xfrm>
          <a:prstGeom prst="roundRect">
            <a:avLst>
              <a:gd name="adj" fmla="val 21432405"/>
            </a:avLst>
          </a:prstGeom>
          <a:solidFill>
            <a:srgbClr val="007EB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858" y="1525191"/>
            <a:ext cx="191929" cy="1919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7581" y="1976676"/>
            <a:ext cx="2328029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Make/Buy/Ally стратегии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7581" y="2295287"/>
            <a:ext cx="6446758" cy="4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Открытая архитектура снижает зависимость от закрытых стеков, позволяет выбирать локальную сборку или открытое ПО.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86280" y="1258133"/>
            <a:ext cx="6746319" cy="1642229"/>
          </a:xfrm>
          <a:prstGeom prst="roundRect">
            <a:avLst>
              <a:gd name="adj" fmla="val 363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36061" y="1407914"/>
            <a:ext cx="426601" cy="426601"/>
          </a:xfrm>
          <a:prstGeom prst="roundRect">
            <a:avLst>
              <a:gd name="adj" fmla="val 21432405"/>
            </a:avLst>
          </a:prstGeom>
          <a:solidFill>
            <a:srgbClr val="007EB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3337" y="1525191"/>
            <a:ext cx="191929" cy="1919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36061" y="1976676"/>
            <a:ext cx="2654618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Сокращение Time-to-Market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536061" y="2295287"/>
            <a:ext cx="6446758" cy="4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Модульность и повторное использование кода ускоряют переналадку под различные модельные ряды.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7800" y="3042523"/>
            <a:ext cx="6746319" cy="1642229"/>
          </a:xfrm>
          <a:prstGeom prst="roundRect">
            <a:avLst>
              <a:gd name="adj" fmla="val 363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7581" y="3192304"/>
            <a:ext cx="426601" cy="426601"/>
          </a:xfrm>
          <a:prstGeom prst="roundRect">
            <a:avLst>
              <a:gd name="adj" fmla="val 21432405"/>
            </a:avLst>
          </a:prstGeom>
          <a:solidFill>
            <a:srgbClr val="007EB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858" y="3309580"/>
            <a:ext cx="191929" cy="1919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7581" y="3761065"/>
            <a:ext cx="3431143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Контроль качества и безопасности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47581" y="4079677"/>
            <a:ext cx="6446758" cy="4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Требуется выстроить контур валидации: покрытие сценариев, traceability логов, стандарты функциональной безопасности.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86280" y="3042523"/>
            <a:ext cx="6746319" cy="1642229"/>
          </a:xfrm>
          <a:prstGeom prst="roundRect">
            <a:avLst>
              <a:gd name="adj" fmla="val 363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36061" y="3192304"/>
            <a:ext cx="426601" cy="426601"/>
          </a:xfrm>
          <a:prstGeom prst="roundRect">
            <a:avLst>
              <a:gd name="adj" fmla="val 21432405"/>
            </a:avLst>
          </a:prstGeom>
          <a:solidFill>
            <a:srgbClr val="007EB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3337" y="3309580"/>
            <a:ext cx="191929" cy="19192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36061" y="3761065"/>
            <a:ext cx="1866781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Снижение TCO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536061" y="4079677"/>
            <a:ext cx="6446758" cy="4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Универсальность сенсоров и общая платформа снижают стоимость изменений и вариативность комплектаций.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97800" y="4897993"/>
            <a:ext cx="6229707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Новые профили компетенций для автопредприятий</a:t>
            </a:r>
            <a:endParaRPr lang="en-US" sz="17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7800" y="5409009"/>
            <a:ext cx="142161" cy="142161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97800" y="5617607"/>
            <a:ext cx="6746319" cy="1524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6" name="Text 19"/>
          <p:cNvSpPr/>
          <p:nvPr/>
        </p:nvSpPr>
        <p:spPr>
          <a:xfrm>
            <a:off x="497800" y="5719167"/>
            <a:ext cx="268605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Инженер ADAS-интеграции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97800" y="6037778"/>
            <a:ext cx="6746319" cy="4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CAN/LIN, ROS/Qt, компьютерное зрение (OpenCV), PID-контроллеры, верификация и валидация.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86280" y="5409009"/>
            <a:ext cx="142161" cy="142161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386280" y="5617607"/>
            <a:ext cx="6746319" cy="1524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30" name="Text 22"/>
          <p:cNvSpPr/>
          <p:nvPr/>
        </p:nvSpPr>
        <p:spPr>
          <a:xfrm>
            <a:off x="7386280" y="5719167"/>
            <a:ext cx="2674501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Специалист по калибровке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7386280" y="6037778"/>
            <a:ext cx="6746319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Калибровка камер, радаров, лидаров, трассировка логов событий и полигонные испытания.</a:t>
            </a:r>
            <a:endParaRPr lang="en-US" sz="11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7800" y="6759535"/>
            <a:ext cx="142161" cy="142161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497800" y="6968133"/>
            <a:ext cx="6746319" cy="1524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34" name="Text 25"/>
          <p:cNvSpPr/>
          <p:nvPr/>
        </p:nvSpPr>
        <p:spPr>
          <a:xfrm>
            <a:off x="497800" y="7069693"/>
            <a:ext cx="1866781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Диагност и сервис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497800" y="7388304"/>
            <a:ext cx="6746319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Диагностика по CAN-шине, обновления прошивок, регламент обслуживания ADAS-систем.</a:t>
            </a:r>
            <a:endParaRPr lang="en-US" sz="11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86280" y="6759535"/>
            <a:ext cx="142161" cy="142161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7386280" y="6968133"/>
            <a:ext cx="6746319" cy="1524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38" name="Text 28"/>
          <p:cNvSpPr/>
          <p:nvPr/>
        </p:nvSpPr>
        <p:spPr>
          <a:xfrm>
            <a:off x="7386280" y="7069693"/>
            <a:ext cx="1992511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Менеджер продукта</a:t>
            </a:r>
            <a:endParaRPr lang="en-US" sz="1450" dirty="0"/>
          </a:p>
        </p:txBody>
      </p:sp>
      <p:sp>
        <p:nvSpPr>
          <p:cNvPr id="39" name="Text 29"/>
          <p:cNvSpPr/>
          <p:nvPr/>
        </p:nvSpPr>
        <p:spPr>
          <a:xfrm>
            <a:off x="7386280" y="7388304"/>
            <a:ext cx="6746319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Портфель функций, экономика внедрения, управление рисками и жизненным циклом ADAS.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618" y="706636"/>
            <a:ext cx="13043654" cy="526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Практическая рамка для профессионального образования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61618" y="1634133"/>
            <a:ext cx="4966811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Образовательные модули СПО/вузов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61618" y="2110383"/>
            <a:ext cx="655784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Архитектуры ADAS и сенсорика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1618" y="2423160"/>
            <a:ext cx="655784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Прикладное компьютерное зрение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1618" y="2735937"/>
            <a:ext cx="655784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CAN-диагностика и логирование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1618" y="3048714"/>
            <a:ext cx="655784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Функциональная безопасность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1618" y="3361492"/>
            <a:ext cx="655784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Калибровка и трассировка ADAS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1618" y="3674269"/>
            <a:ext cx="655784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Методы валидации на полигоне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1618" y="3987046"/>
            <a:ext cx="655784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Сервис ADAS и анализ событий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1618" y="4299823"/>
            <a:ext cx="655784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Экономика внедрения и управление TCO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18559" y="1634133"/>
            <a:ext cx="3773686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Практические инструменты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518559" y="2110383"/>
            <a:ext cx="655784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Учебные стенды на CARLA и Hardware-in-the-Loop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18559" y="2423160"/>
            <a:ext cx="655784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Производственные практики на сборочных линиях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18559" y="2735937"/>
            <a:ext cx="655784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Междисциплинарные проекты (CV + контроль + GUI)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18559" y="3048714"/>
            <a:ext cx="6557843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Микроквалификации: «Калибровка камер 360°», «Диагностика CAN ADAS», «Верификация LKA/AEB»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1618" y="4873226"/>
            <a:ext cx="13507164" cy="27623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1618" y="5141357"/>
            <a:ext cx="4934188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Научная и практическая значимость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02243" y="5878354"/>
            <a:ext cx="13266539" cy="770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Системное описание и верификация открытого модульного прототипа ADAS с увязкой управленческих и образовательных аспектов. Предложенные минимумы оборудования (102 тыс. ₽), ориентиры по интеграции (300 тыс. ₽) и карта компетенций создают практико-ориентированную модель сокращения технологического разрыва в массовом сегменте отечественного автопрома.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1618" y="5697855"/>
            <a:ext cx="22860" cy="1131094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561618" y="7009448"/>
            <a:ext cx="13507164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Перспективы развития: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переход на бортовые платформы Linux/ARM, интеграция с CAN-сегментами, сертификация по ТР ТС 018/2011, расширение набора ассистентов (ТСА, TSR, ALC), развёртывание образовательных полигонов на базе симуляторов.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2025-12-02T08:47:41Z</dcterms:created>
  <dcterms:modified xsi:type="dcterms:W3CDTF">2025-12-02T08:47:41Z</dcterms:modified>
</cp:coreProperties>
</file>